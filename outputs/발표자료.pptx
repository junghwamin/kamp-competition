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제조 생산데이터 기반 전력사용량 예측 및 최대피크 위험조건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제6회 K-인공지능 제조데이터 분석 경진대회 · 과제 ⑤ 자원 최적화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데이터의 44.7%가 합성 복제일</a:t>
            </a:r>
          </a:p>
        </p:txBody>
      </p:sp>
      <p:pic>
        <p:nvPicPr>
          <p:cNvPr id="3" name="Picture 2" descr="F02_복제일_구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23791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630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· 고유 프로파일 142/257일</a:t>
            </a:r>
          </a:p>
          <a:p>
            <a:pPr>
              <a:defRPr sz="1300"/>
            </a:pPr>
            <a:r>
              <a:t>· 복제 115일 (행 단위 중복 0건)</a:t>
            </a:r>
          </a:p>
          <a:p>
            <a:pPr>
              <a:defRPr sz="1300"/>
            </a:pPr>
            <a:r>
              <a:t>· 전력은 동일, 기온은 -3.4~19.2°C</a:t>
            </a:r>
          </a:p>
          <a:p>
            <a:pPr>
              <a:defRPr sz="1300"/>
            </a:pPr>
            <a:r>
              <a:t>· 오염 fold 폐기 → 성능 과대추정 차단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양방향 결측을 대칭 진단</a:t>
            </a:r>
          </a:p>
        </p:txBody>
      </p:sp>
      <p:pic>
        <p:nvPicPr>
          <p:cNvPr id="3" name="Picture 2" descr="F04_양방향_결측_타임라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1618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630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· 센서측 17시간 (평균전력 0)</a:t>
            </a:r>
          </a:p>
          <a:p>
            <a:pPr>
              <a:defRPr sz="1300"/>
            </a:pPr>
            <a:r>
              <a:t>· ERP측 48시간 (생산량 0, 전력 정상)</a:t>
            </a:r>
          </a:p>
          <a:p>
            <a:pPr>
              <a:defRPr sz="1300"/>
            </a:pPr>
            <a:r>
              <a:t>· 야간 피크 7건이 전부 ERP 결측일</a:t>
            </a:r>
          </a:p>
          <a:p>
            <a:pPr>
              <a:defRPr sz="1300"/>
            </a:pPr>
            <a:r>
              <a:t>· 서로 다른 처리 규칙 적용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Day-ahead 누수 차단</a:t>
            </a:r>
          </a:p>
        </p:txBody>
      </p:sp>
      <p:pic>
        <p:nvPicPr>
          <p:cNvPr id="3" name="Picture 2" descr="F13_Day_ahead_원점_경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21101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630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· origin = D일 24:00</a:t>
            </a:r>
          </a:p>
          <a:p>
            <a:pPr>
              <a:defRPr sz="1300"/>
            </a:pPr>
            <a:r>
              <a:t>· 안전 lag 24/48/168 만</a:t>
            </a:r>
          </a:p>
          <a:p>
            <a:pPr>
              <a:defRPr sz="1300"/>
            </a:pPr>
            <a:r>
              <a:t>· 이동통계는 원점 1회 계산 후 브로드캐스트</a:t>
            </a:r>
          </a:p>
          <a:p>
            <a:pPr>
              <a:defRPr sz="1300"/>
            </a:pPr>
            <a:r>
              <a:t>· 미래맹검 동등성 검사로 기계적 증명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가이드북 베이스라인 결함 증명</a:t>
            </a:r>
          </a:p>
        </p:txBody>
      </p:sp>
      <p:pic>
        <p:nvPicPr>
          <p:cNvPr id="3" name="Picture 2" descr="F16_베이스라인_RF_중요도_집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36197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630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· 셀 73 `iloc[0]` → 실질 피처 1개</a:t>
            </a:r>
          </a:p>
          <a:p>
            <a:pPr>
              <a:defRPr sz="1300"/>
            </a:pPr>
            <a:r>
              <a:t>· 학습 MSE &gt; 테스트 MSE (과적합 0)</a:t>
            </a:r>
          </a:p>
          <a:p>
            <a:pPr>
              <a:defRPr sz="1300"/>
            </a:pPr>
            <a:r>
              <a:t>· 무음 미반영 3곳 (Weekend/Vacation 전부 0)</a:t>
            </a:r>
          </a:p>
          <a:p>
            <a:pPr>
              <a:defRPr sz="1300"/>
            </a:pPr>
            <a:r>
              <a:t>· 결함 13건을 표로 정리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최종모델: 2단계 레짐(3분류)</a:t>
            </a:r>
          </a:p>
        </p:txBody>
      </p:sp>
      <p:pic>
        <p:nvPicPr>
          <p:cNvPr id="3" name="Picture 2" descr="F17_모델별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31696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630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· 테스트 MAE 5.22 (+13.6%)</a:t>
            </a:r>
          </a:p>
          <a:p>
            <a:pPr>
              <a:defRPr sz="1300"/>
            </a:pPr>
            <a:r>
              <a:t>· Recall 0.929 / F1 0.525</a:t>
            </a:r>
          </a:p>
          <a:p>
            <a:pPr>
              <a:defRPr sz="1300"/>
            </a:pPr>
            <a:r>
              <a:t>· 추론 7.43초 (336시간 배치)</a:t>
            </a:r>
          </a:p>
          <a:p>
            <a:pPr>
              <a:defRPr sz="1300"/>
            </a:pPr>
            <a:r>
              <a:t>· D2 순위상관 0.943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달력규칙 기준선이 Recall 1.000</a:t>
            </a:r>
          </a:p>
        </p:txBody>
      </p:sp>
      <p:pic>
        <p:nvPicPr>
          <p:cNvPr id="3" name="Picture 2" descr="F19_PR_곡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57903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630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· 평일 ∧ 08~18시 → Recall 1.000, FP 82</a:t>
            </a:r>
          </a:p>
          <a:p>
            <a:pPr>
              <a:defRPr sz="1300"/>
            </a:pPr>
            <a:r>
              <a:t>· Recall 로는 어떤 모델도 이길 수 없다</a:t>
            </a:r>
          </a:p>
          <a:p>
            <a:pPr>
              <a:defRPr sz="1300"/>
            </a:pPr>
            <a:r>
              <a:t>· 주지표를 F1/PR-AUC 로 재정의</a:t>
            </a:r>
          </a:p>
          <a:p>
            <a:pPr>
              <a:defRPr sz="1300"/>
            </a:pPr>
            <a:r>
              <a:t>· 기여 = 동일 Recall 에서 FP 감소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피크 저감: 동시성 분산이 핵심</a:t>
            </a:r>
          </a:p>
        </p:txBody>
      </p:sp>
      <p:pic>
        <p:nvPicPr>
          <p:cNvPr id="3" name="Picture 2" descr="F35_레버별_최대수요_저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2807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630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· 08·13시만 분산 → Δ최대수요 0 kW</a:t>
            </a:r>
          </a:p>
          <a:p>
            <a:pPr>
              <a:defRPr sz="1300"/>
            </a:pPr>
            <a:r>
              <a:t>· 09·11시까지 포함 → 13 kW</a:t>
            </a:r>
          </a:p>
          <a:p>
            <a:pPr>
              <a:defRPr sz="1300"/>
            </a:pPr>
            <a:r>
              <a:t>· 청구 피크는 최대값 → 상위 사건 전부 덮어야</a:t>
            </a:r>
          </a:p>
          <a:p>
            <a:pPr>
              <a:defRPr sz="1300"/>
            </a:pPr>
            <a:r>
              <a:t>· 생산량 이동 β=0.00105 kW/단위 (지렛대 미미)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현장 운영 프로토콜</a:t>
            </a:r>
          </a:p>
        </p:txBody>
      </p:sp>
      <p:pic>
        <p:nvPicPr>
          <p:cNvPr id="3" name="Picture 2" descr="F39_경보_운영_타임라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498079" cy="18573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146304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· 전일 24:00 예측 → 24:10 조정안</a:t>
            </a:r>
          </a:p>
          <a:p>
            <a:pPr>
              <a:defRPr sz="1300"/>
            </a:pPr>
            <a:r>
              <a:t>· 익일 07:30 계단식 기동 지시</a:t>
            </a:r>
          </a:p>
          <a:p>
            <a:pPr>
              <a:defRPr sz="1300"/>
            </a:pPr>
            <a:r>
              <a:t>· 위험시간 실시간 감시</a:t>
            </a:r>
          </a:p>
          <a:p>
            <a:pPr>
              <a:defRPr sz="1300"/>
            </a:pPr>
            <a:r>
              <a:t>· 규칙 R1~R3 과 연결된 점검 우선순위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